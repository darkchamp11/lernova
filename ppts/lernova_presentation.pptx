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Topic Strength</c:v>
                </c:pt>
              </c:strCache>
            </c:strRef>
          </c:tx>
          <c:dPt>
            <c:idx val="0"/>
            <c:spPr>
              <a:solidFill>
                <a:srgbClr val="1B365D"/>
              </a:solidFill>
            </c:spPr>
          </c:dPt>
          <c:dPt>
            <c:idx val="1"/>
            <c:spPr>
              <a:solidFill>
                <a:srgbClr val="5E5D59"/>
              </a:solidFill>
            </c:spPr>
          </c:dPt>
          <c:dPt>
            <c:idx val="2"/>
            <c:spPr>
              <a:solidFill>
                <a:srgbClr val="87867F"/>
              </a:solidFill>
            </c:spPr>
          </c:dPt>
          <c:dPt>
            <c:idx val="3"/>
            <c:spPr>
              <a:solidFill>
                <a:srgbClr val="B8B7B0"/>
              </a:solidFill>
            </c:spPr>
          </c:dPt>
          <c:dPt>
            <c:idx val="4"/>
            <c:spPr>
              <a:solidFill>
                <a:srgbClr val="D4D3CD"/>
              </a:solidFill>
            </c:spPr>
          </c:dPt>
          <c:cat>
            <c:strRef>
              <c:f>Sheet1!$A$2:$A$6</c:f>
              <c:strCache>
                <c:ptCount val="5"/>
                <c:pt idx="0">
                  <c:v>Programming</c:v>
                </c:pt>
                <c:pt idx="1">
                  <c:v>Web Dev</c:v>
                </c:pt>
                <c:pt idx="2">
                  <c:v>CS Theory</c:v>
                </c:pt>
                <c:pt idx="3">
                  <c:v>AI &amp; ML</c:v>
                </c:pt>
                <c:pt idx="4">
                  <c:v>DevOps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85</c:v>
                </c:pt>
                <c:pt idx="1">
                  <c:v>70</c:v>
                </c:pt>
                <c:pt idx="2">
                  <c:v>60</c:v>
                </c:pt>
                <c:pt idx="3">
                  <c:v>45</c:v>
                </c:pt>
                <c:pt idx="4">
                  <c:v>30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000">
              <a:solidFill>
                <a:srgbClr val="5E5D59"/>
              </a:solidFill>
              <a:latin typeface="Inter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Score (%)</c:v>
                </c:pt>
              </c:strCache>
            </c:strRef>
          </c:tx>
          <c:spPr>
            <a:solidFill>
              <a:srgbClr val="1B365D"/>
            </a:solidFill>
          </c:spPr>
          <c:cat>
            <c:strRef>
              <c:f>Sheet1!$A$2:$A$6</c:f>
              <c:strCache>
                <c:ptCount val="5"/>
                <c:pt idx="0">
                  <c:v>React Basics</c:v>
                </c:pt>
                <c:pt idx="1">
                  <c:v>Node JS Intro</c:v>
                </c:pt>
                <c:pt idx="2">
                  <c:v>SQL Adv</c:v>
                </c:pt>
                <c:pt idx="3">
                  <c:v>Python Data</c:v>
                </c:pt>
                <c:pt idx="4">
                  <c:v>Docker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85</c:v>
                </c:pt>
                <c:pt idx="1">
                  <c:v>78</c:v>
                </c:pt>
                <c:pt idx="2">
                  <c:v>65</c:v>
                </c:pt>
                <c:pt idx="3">
                  <c:v>92</c:v>
                </c:pt>
                <c:pt idx="4">
                  <c:v>70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4D4C48"/>
                </a:solidFill>
                <a:latin typeface="Inte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8E5DA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87867F"/>
                </a:solidFill>
                <a:latin typeface="Inter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5E5D59"/>
              </a:solidFill>
              <a:latin typeface="Inter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0" i="0">
                <a:solidFill>
                  <a:srgbClr val="141413"/>
                </a:solidFill>
                <a:latin typeface="Newsreader"/>
              </a:rPr>
              <a:t>Lernova Platform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937760" y="3931920"/>
            <a:ext cx="2286000" cy="0"/>
          </a:xfrm>
          <a:prstGeom prst="line">
            <a:avLst/>
          </a:prstGeom>
          <a:ln w="19050">
            <a:solidFill>
              <a:srgbClr val="1B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14400" y="4206240"/>
            <a:ext cx="1036015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5E5D59"/>
                </a:solidFill>
                <a:latin typeface="Inter"/>
              </a:rPr>
              <a:t>Personalized Smart Learning Platform powered by AI.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87867F"/>
                </a:solidFill>
                <a:latin typeface="JetBrains Mono"/>
              </a:rPr>
              <a:t>Lernova Team ·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141413"/>
                </a:solidFill>
                <a:latin typeface="Newsreader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97280" y="1645920"/>
            <a:ext cx="10058400" cy="0"/>
          </a:xfrm>
          <a:prstGeom prst="line">
            <a:avLst/>
          </a:prstGeom>
          <a:ln w="12700">
            <a:solidFill>
              <a:srgbClr val="E0D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97280" y="201168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1B365D"/>
                </a:solidFill>
                <a:latin typeface="JetBrains Mono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20116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 i="0">
                <a:solidFill>
                  <a:srgbClr val="141413"/>
                </a:solidFill>
                <a:latin typeface="Newsreader"/>
              </a:rPr>
              <a:t>Project Overview &amp; 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1B365D"/>
                </a:solidFill>
                <a:latin typeface="JetBrains Mono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26974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 i="0">
                <a:solidFill>
                  <a:srgbClr val="141413"/>
                </a:solidFill>
                <a:latin typeface="Newsreader"/>
              </a:rPr>
              <a:t>Modern Technology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8328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1B365D"/>
                </a:solidFill>
                <a:latin typeface="JetBrains Mono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33832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 i="0">
                <a:solidFill>
                  <a:srgbClr val="141413"/>
                </a:solidFill>
                <a:latin typeface="Newsreader"/>
              </a:rPr>
              <a:t>Core Features &amp; User Progress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06908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1B365D"/>
                </a:solidFill>
                <a:latin typeface="JetBrains Mono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40690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 i="0">
                <a:solidFill>
                  <a:srgbClr val="141413"/>
                </a:solidFill>
                <a:latin typeface="Newsreader"/>
              </a:rPr>
              <a:t>AI Tutor &amp; Real-Time Assessment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75488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1B365D"/>
                </a:solidFill>
                <a:latin typeface="JetBrains Mono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47548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 i="0">
                <a:solidFill>
                  <a:srgbClr val="141413"/>
                </a:solidFill>
                <a:latin typeface="Newsreader"/>
              </a:rPr>
              <a:t>Architecture &amp; Schema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44068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1B365D"/>
                </a:solidFill>
                <a:latin typeface="JetBrains Mono"/>
              </a:rP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54406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 i="0">
                <a:solidFill>
                  <a:srgbClr val="141413"/>
                </a:solidFill>
                <a:latin typeface="Newsreader"/>
              </a:rPr>
              <a:t>Project Impact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87867F"/>
                </a:solidFill>
                <a:latin typeface="JetBrains Mono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3200400"/>
            <a:ext cx="50800" cy="109728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017520"/>
            <a:ext cx="960120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0" b="0" i="0">
                <a:solidFill>
                  <a:srgbClr val="141413"/>
                </a:solidFill>
                <a:latin typeface="Newsreader"/>
              </a:rPr>
              <a:t>Project Overview &amp; Mission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" y="493776"/>
            <a:ext cx="73152" cy="73152"/>
          </a:xfrm>
          <a:prstGeom prst="ellipse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411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7867F"/>
                </a:solidFill>
                <a:latin typeface="Inter"/>
              </a:rPr>
              <a:t>MISSION · OBJECTIVE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777240"/>
            <a:ext cx="10360152" cy="0"/>
          </a:xfrm>
          <a:prstGeom prst="line">
            <a:avLst/>
          </a:prstGeom>
          <a:ln w="10160">
            <a:solidFill>
              <a:srgbClr val="E0D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960120"/>
            <a:ext cx="103601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141413"/>
                </a:solidFill>
                <a:latin typeface="Newsreader"/>
              </a:rPr>
              <a:t>Adaptive Education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400"/>
              </a:lnSpc>
            </a:pPr>
            <a:r>
              <a:rPr sz="1600">
                <a:solidFill>
                  <a:srgbClr val="3D3D3A"/>
                </a:solidFill>
                <a:latin typeface="Inter"/>
              </a:rPr>
              <a:t>Lernova is an intelligent learning companion. It adapts to the user's skill level, tests knowledge in real-time using local LLMs, and recommends courses based on identified knowledge gaps and user goals.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01752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B365D"/>
                </a:solidFill>
                <a:latin typeface="Inter"/>
              </a:rPr>
              <a:t>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3017520"/>
            <a:ext cx="9281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D4C48"/>
                </a:solidFill>
                <a:latin typeface="Inter"/>
              </a:rPr>
              <a:t>Personalized Recommendations: Connects users with courses that fit their goals.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56616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B365D"/>
                </a:solidFill>
                <a:latin typeface="Inter"/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566160"/>
            <a:ext cx="9281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D4C48"/>
                </a:solidFill>
                <a:latin typeface="Inter"/>
              </a:rPr>
              <a:t>Real-Time Quizzes: Generates dynamic MCQ and written questions.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114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B365D"/>
                </a:solidFill>
                <a:latin typeface="Inter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4114800"/>
            <a:ext cx="9281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D4C48"/>
                </a:solidFill>
                <a:latin typeface="Inter"/>
              </a:rPr>
              <a:t>Visual Progress: Radar and bar charts to map knowledge vectors.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7867F"/>
                </a:solidFill>
                <a:latin typeface="Inter"/>
              </a:rPr>
              <a:t>04 / 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00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87867F"/>
                </a:solidFill>
                <a:latin typeface="Inter"/>
              </a:rPr>
              <a:t>FLOOD FORECASTING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87867F"/>
                </a:solidFill>
                <a:latin typeface="JetBrains Mono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3200400"/>
            <a:ext cx="50800" cy="109728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017520"/>
            <a:ext cx="960120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0" b="0" i="0">
                <a:solidFill>
                  <a:srgbClr val="141413"/>
                </a:solidFill>
                <a:latin typeface="Newsreader"/>
              </a:rPr>
              <a:t>Modern Technology Stack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" y="493776"/>
            <a:ext cx="73152" cy="73152"/>
          </a:xfrm>
          <a:prstGeom prst="ellipse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411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7867F"/>
                </a:solidFill>
                <a:latin typeface="Inter"/>
              </a:rPr>
              <a:t>TECHNOLOGY · ARCHITECTURE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777240"/>
            <a:ext cx="10360152" cy="0"/>
          </a:xfrm>
          <a:prstGeom prst="line">
            <a:avLst/>
          </a:prstGeom>
          <a:ln w="10160">
            <a:solidFill>
              <a:srgbClr val="E0D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960120"/>
            <a:ext cx="103601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141413"/>
                </a:solidFill>
                <a:latin typeface="Newsreader"/>
              </a:rPr>
              <a:t>Scalable Next.js Ecosystem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400"/>
              </a:lnSpc>
            </a:pPr>
            <a:r>
              <a:rPr sz="1600">
                <a:solidFill>
                  <a:srgbClr val="3D3D3A"/>
                </a:solidFill>
                <a:latin typeface="Inter"/>
              </a:rPr>
              <a:t>The platform leverages Next.js 15, Drizzle ORM, and Redis for a highly scalable, real-time experience.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01752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B365D"/>
                </a:solidFill>
                <a:latin typeface="Inter"/>
              </a:rPr>
              <a:t>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3017520"/>
            <a:ext cx="9281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D4C48"/>
                </a:solidFill>
                <a:latin typeface="Inter"/>
              </a:rPr>
              <a:t>Frontend: Next.js App Router, Tailwind CSS, Recharts for visual tracking.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56616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B365D"/>
                </a:solidFill>
                <a:latin typeface="Inter"/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566160"/>
            <a:ext cx="9281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D4C48"/>
                </a:solidFill>
                <a:latin typeface="Inter"/>
              </a:rPr>
              <a:t>Backend: Next.js API Routes, Node.js.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114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B365D"/>
                </a:solidFill>
                <a:latin typeface="Inter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4114800"/>
            <a:ext cx="9281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D4C48"/>
                </a:solidFill>
                <a:latin typeface="Inter"/>
              </a:rPr>
              <a:t>Database: PostgreSQL 16 accessed via Drizzle ORM.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663439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B365D"/>
                </a:solidFill>
                <a:latin typeface="Inter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663439"/>
            <a:ext cx="9281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D4C48"/>
                </a:solidFill>
                <a:latin typeface="Inter"/>
              </a:rPr>
              <a:t>Caching: Redis for sessions and fast recommendation retrieval.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21208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B365D"/>
                </a:solidFill>
                <a:latin typeface="Inter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5212080"/>
            <a:ext cx="9281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D4C48"/>
                </a:solidFill>
                <a:latin typeface="Inter"/>
              </a:rPr>
              <a:t>Code Quality: Biome.js for blazing fast linting and formatting.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7867F"/>
                </a:solidFill>
                <a:latin typeface="Inter"/>
              </a:rPr>
              <a:t>06 / 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00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87867F"/>
                </a:solidFill>
                <a:latin typeface="Inter"/>
              </a:rPr>
              <a:t>FLOOD FORECASTING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87867F"/>
                </a:solidFill>
                <a:latin typeface="JetBrains Mono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3200400"/>
            <a:ext cx="50800" cy="109728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017520"/>
            <a:ext cx="960120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0" b="0" i="0">
                <a:solidFill>
                  <a:srgbClr val="141413"/>
                </a:solidFill>
                <a:latin typeface="Newsreader"/>
              </a:rPr>
              <a:t>Core Features &amp; User Progress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" y="493776"/>
            <a:ext cx="73152" cy="73152"/>
          </a:xfrm>
          <a:prstGeom prst="ellipse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411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7867F"/>
                </a:solidFill>
                <a:latin typeface="Inter"/>
              </a:rPr>
              <a:t>FEATURES · OPERATIONS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777240"/>
            <a:ext cx="10360152" cy="0"/>
          </a:xfrm>
          <a:prstGeom prst="line">
            <a:avLst/>
          </a:prstGeom>
          <a:ln w="10160">
            <a:solidFill>
              <a:srgbClr val="E0D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960120"/>
            <a:ext cx="103601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141413"/>
                </a:solidFill>
                <a:latin typeface="Newsreader"/>
              </a:rPr>
              <a:t>Smart Progress Tracking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400"/>
              </a:lnSpc>
            </a:pPr>
            <a:r>
              <a:rPr sz="1600">
                <a:solidFill>
                  <a:srgbClr val="3D3D3A"/>
                </a:solidFill>
                <a:latin typeface="Inter"/>
              </a:rPr>
              <a:t>Lernova provides a complete lifecycle for learners, from onboarding to goal completion.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01752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B365D"/>
                </a:solidFill>
                <a:latin typeface="Inter"/>
              </a:rPr>
              <a:t>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3017520"/>
            <a:ext cx="9281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D4C48"/>
                </a:solidFill>
                <a:latin typeface="Inter"/>
              </a:rPr>
              <a:t>Goal-Based Enrollment: Users can manage up to 2 active courses at once.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56616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B365D"/>
                </a:solidFill>
                <a:latin typeface="Inter"/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566160"/>
            <a:ext cx="9281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D4C48"/>
                </a:solidFill>
                <a:latin typeface="Inter"/>
              </a:rPr>
              <a:t>Study Plans: Features AI-generated and custom study to-dos for each course.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114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B365D"/>
                </a:solidFill>
                <a:latin typeface="Inter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4114800"/>
            <a:ext cx="9281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D4C48"/>
                </a:solidFill>
                <a:latin typeface="Inter"/>
              </a:rPr>
              <a:t>Progress Requirements: Requires 75% or higher on final quizzes to pass.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663439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B365D"/>
                </a:solidFill>
                <a:latin typeface="Inter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663439"/>
            <a:ext cx="9281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D4C48"/>
                </a:solidFill>
                <a:latin typeface="Inter"/>
              </a:rPr>
              <a:t>Visual Dashboard: Detailed metrics to track user scores and knowledge dimensions.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7867F"/>
                </a:solidFill>
                <a:latin typeface="Inter"/>
              </a:rPr>
              <a:t>08 / 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87867F"/>
                </a:solidFill>
                <a:latin typeface="Inter"/>
              </a:rPr>
              <a:t>FLOOD FORECASTING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" y="493776"/>
            <a:ext cx="73152" cy="73152"/>
          </a:xfrm>
          <a:prstGeom prst="ellipse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411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7867F"/>
                </a:solidFill>
                <a:latin typeface="Inter"/>
              </a:rPr>
              <a:t>FEATURES · METRICS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777240"/>
            <a:ext cx="10360152" cy="0"/>
          </a:xfrm>
          <a:prstGeom prst="line">
            <a:avLst/>
          </a:prstGeom>
          <a:ln w="10160">
            <a:solidFill>
              <a:srgbClr val="E0D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960120"/>
            <a:ext cx="103601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141413"/>
                </a:solidFill>
                <a:latin typeface="Newsreader"/>
              </a:rPr>
              <a:t>Knowledge Vector Distribution (Sample)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371600" y="2011680"/>
          <a:ext cx="9144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7867F"/>
                </a:solidFill>
                <a:latin typeface="Inter"/>
              </a:rPr>
              <a:t>09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87867F"/>
                </a:solidFill>
                <a:latin typeface="Inter"/>
              </a:rPr>
              <a:t>FLOOD FORECASTING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87867F"/>
                </a:solidFill>
                <a:latin typeface="JetBrains Mono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3200400"/>
            <a:ext cx="50800" cy="109728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017520"/>
            <a:ext cx="960120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0" b="0" i="0">
                <a:solidFill>
                  <a:srgbClr val="141413"/>
                </a:solidFill>
                <a:latin typeface="Newsreader"/>
              </a:rPr>
              <a:t>AI Tutor &amp; Real-Time Assessment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" y="493776"/>
            <a:ext cx="73152" cy="73152"/>
          </a:xfrm>
          <a:prstGeom prst="ellipse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411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7867F"/>
                </a:solidFill>
                <a:latin typeface="Inter"/>
              </a:rPr>
              <a:t>AI · INTELLIGENCE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777240"/>
            <a:ext cx="10360152" cy="0"/>
          </a:xfrm>
          <a:prstGeom prst="line">
            <a:avLst/>
          </a:prstGeom>
          <a:ln w="10160">
            <a:solidFill>
              <a:srgbClr val="E0D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960120"/>
            <a:ext cx="103601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141413"/>
                </a:solidFill>
                <a:latin typeface="Newsreader"/>
              </a:rPr>
              <a:t>Local LLMs via Ollama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400"/>
              </a:lnSpc>
            </a:pPr>
            <a:r>
              <a:rPr sz="1600">
                <a:solidFill>
                  <a:srgbClr val="3D3D3A"/>
                </a:solidFill>
                <a:latin typeface="Inter"/>
              </a:rPr>
              <a:t>Lernova integrates a robust AI Tutor powered by local LLMs through Ollama, ensuring data privacy and fast inference.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01752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B365D"/>
                </a:solidFill>
                <a:latin typeface="Inter"/>
              </a:rPr>
              <a:t>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3017520"/>
            <a:ext cx="9281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D4C48"/>
                </a:solidFill>
                <a:latin typeface="Inter"/>
              </a:rPr>
              <a:t>Streaming Responses: Generates real-time, token-by-token guidance.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56616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B365D"/>
                </a:solidFill>
                <a:latin typeface="Inter"/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566160"/>
            <a:ext cx="9281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D4C48"/>
                </a:solidFill>
                <a:latin typeface="Inter"/>
              </a:rPr>
              <a:t>Educational Focus: Socratic questioning ensures the AI doesn't just give away answers.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114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B365D"/>
                </a:solidFill>
                <a:latin typeface="Inter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4114800"/>
            <a:ext cx="9281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D4C48"/>
                </a:solidFill>
                <a:latin typeface="Inter"/>
              </a:rPr>
              <a:t>Dynamic Quiz Generation: Real-time generation of MCQs and written questions tailored to the user's difficulty level.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663439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B365D"/>
                </a:solidFill>
                <a:latin typeface="Inter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663439"/>
            <a:ext cx="9281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D4C48"/>
                </a:solidFill>
                <a:latin typeface="Inter"/>
              </a:rPr>
              <a:t>Smart Extraction: Analyzes user learning goals to automatically extract target topics.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7867F"/>
                </a:solidFill>
                <a:latin typeface="Inter"/>
              </a:rPr>
              <a:t>11 / 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87867F"/>
                </a:solidFill>
                <a:latin typeface="Inter"/>
              </a:rPr>
              <a:t>FLOOD FORECASTING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" y="493776"/>
            <a:ext cx="73152" cy="73152"/>
          </a:xfrm>
          <a:prstGeom prst="ellipse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411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7867F"/>
                </a:solidFill>
                <a:latin typeface="Inter"/>
              </a:rPr>
              <a:t>AI · ASSESSMENT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777240"/>
            <a:ext cx="10360152" cy="0"/>
          </a:xfrm>
          <a:prstGeom prst="line">
            <a:avLst/>
          </a:prstGeom>
          <a:ln w="10160">
            <a:solidFill>
              <a:srgbClr val="E0D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960120"/>
            <a:ext cx="103601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141413"/>
                </a:solidFill>
                <a:latin typeface="Newsreader"/>
              </a:rPr>
              <a:t>Recent Quiz Performance (Sample)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371600" y="2011680"/>
          <a:ext cx="9144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7867F"/>
                </a:solidFill>
                <a:latin typeface="Inter"/>
              </a:rPr>
              <a:t>12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87867F"/>
                </a:solidFill>
                <a:latin typeface="Inter"/>
              </a:rPr>
              <a:t>FLOOD FORECASTING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87867F"/>
                </a:solidFill>
                <a:latin typeface="JetBrains Mono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3200400"/>
            <a:ext cx="50800" cy="109728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017520"/>
            <a:ext cx="960120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0" b="0" i="0">
                <a:solidFill>
                  <a:srgbClr val="141413"/>
                </a:solidFill>
                <a:latin typeface="Newsreader"/>
              </a:rPr>
              <a:t>Architecture &amp; Schema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" y="493776"/>
            <a:ext cx="73152" cy="73152"/>
          </a:xfrm>
          <a:prstGeom prst="ellipse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411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7867F"/>
                </a:solidFill>
                <a:latin typeface="Inter"/>
              </a:rPr>
              <a:t>ARCHITECTURE · DATA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777240"/>
            <a:ext cx="10360152" cy="0"/>
          </a:xfrm>
          <a:prstGeom prst="line">
            <a:avLst/>
          </a:prstGeom>
          <a:ln w="10160">
            <a:solidFill>
              <a:srgbClr val="E0D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960120"/>
            <a:ext cx="103601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141413"/>
                </a:solidFill>
                <a:latin typeface="Newsreader"/>
              </a:rPr>
              <a:t>Drizzle ORM &amp; PostgreSQL Schema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400"/>
              </a:lnSpc>
            </a:pPr>
            <a:r>
              <a:rPr sz="1600">
                <a:solidFill>
                  <a:srgbClr val="3D3D3A"/>
                </a:solidFill>
                <a:latin typeface="Inter"/>
              </a:rPr>
              <a:t>A highly relational schema built for complex progress tracking and personalized learning vectors.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01752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B365D"/>
                </a:solidFill>
                <a:latin typeface="Inter"/>
              </a:rPr>
              <a:t>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3017520"/>
            <a:ext cx="9281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D4C48"/>
                </a:solidFill>
                <a:latin typeface="Inter"/>
              </a:rPr>
              <a:t>Users: Stores authentication details, sessions via Redis, and JSON knowledge vectors.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56616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B365D"/>
                </a:solidFill>
                <a:latin typeface="Inter"/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566160"/>
            <a:ext cx="9281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D4C48"/>
                </a:solidFill>
                <a:latin typeface="Inter"/>
              </a:rPr>
              <a:t>Content: Courses categorized by topic, difficulty, and keywords.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114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B365D"/>
                </a:solidFill>
                <a:latin typeface="Inter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4114800"/>
            <a:ext cx="9281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D4C48"/>
                </a:solidFill>
                <a:latin typeface="Inter"/>
              </a:rPr>
              <a:t>Progress &amp; Enrollments: Tracks historical progress, active enrollments, and dynamic study tasks.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663439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B365D"/>
                </a:solidFill>
                <a:latin typeface="Inter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663439"/>
            <a:ext cx="9281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D4C48"/>
                </a:solidFill>
                <a:latin typeface="Inter"/>
              </a:rPr>
              <a:t>ML Ready: Schema is optimized for Phase 2 deep learning recommendations via FastAPI.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7867F"/>
                </a:solidFill>
                <a:latin typeface="Inter"/>
              </a:rPr>
              <a:t>14 / 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87867F"/>
                </a:solidFill>
                <a:latin typeface="Inter"/>
              </a:rPr>
              <a:t>FLOOD FORECASTING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" y="493776"/>
            <a:ext cx="73152" cy="73152"/>
          </a:xfrm>
          <a:prstGeom prst="ellipse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411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7867F"/>
                </a:solidFill>
                <a:latin typeface="Inter"/>
              </a:rPr>
              <a:t>ARCHITECTURE · PERFORMANCE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777240"/>
            <a:ext cx="10360152" cy="0"/>
          </a:xfrm>
          <a:prstGeom prst="line">
            <a:avLst/>
          </a:prstGeom>
          <a:ln w="10160">
            <a:solidFill>
              <a:srgbClr val="E0D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960120"/>
            <a:ext cx="103601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141413"/>
                </a:solidFill>
                <a:latin typeface="Newsreader"/>
              </a:rPr>
              <a:t>System Capabilities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3D3D3A"/>
                </a:solidFill>
                <a:latin typeface="Inter"/>
              </a:rPr>
              <a:t>Lernova is designed to scale with a decoupled Next.js API, Redis caching, and Docker deployments.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3836" y="3017520"/>
            <a:ext cx="2286000" cy="1828800"/>
          </a:xfrm>
          <a:prstGeom prst="roundRect">
            <a:avLst/>
          </a:prstGeom>
          <a:solidFill>
            <a:srgbClr val="FAF9F5"/>
          </a:solidFill>
          <a:ln w="6350">
            <a:solidFill>
              <a:srgbClr val="E8E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3836" y="338328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0" i="0">
                <a:solidFill>
                  <a:srgbClr val="1B365D"/>
                </a:solidFill>
                <a:latin typeface="Newsreader"/>
              </a:rPr>
              <a:t>&lt;100ms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3836" y="41148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5E5D59"/>
                </a:solidFill>
                <a:latin typeface="Inter"/>
              </a:rPr>
              <a:t>Cache Latency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25596" y="3017520"/>
            <a:ext cx="2286000" cy="1828800"/>
          </a:xfrm>
          <a:prstGeom prst="roundRect">
            <a:avLst/>
          </a:prstGeom>
          <a:solidFill>
            <a:srgbClr val="FAF9F5"/>
          </a:solidFill>
          <a:ln w="6350">
            <a:solidFill>
              <a:srgbClr val="E8E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5596" y="338328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0" i="0">
                <a:solidFill>
                  <a:srgbClr val="1B365D"/>
                </a:solidFill>
                <a:latin typeface="Newsreader"/>
              </a:rPr>
              <a:t>1 Hour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5596" y="41148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5E5D59"/>
                </a:solidFill>
                <a:latin typeface="Inter"/>
              </a:rPr>
              <a:t>Rec. TTL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7356" y="3017520"/>
            <a:ext cx="2286000" cy="1828800"/>
          </a:xfrm>
          <a:prstGeom prst="roundRect">
            <a:avLst/>
          </a:prstGeom>
          <a:solidFill>
            <a:srgbClr val="FAF9F5"/>
          </a:solidFill>
          <a:ln w="6350">
            <a:solidFill>
              <a:srgbClr val="E8E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7356" y="338328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0" i="0">
                <a:solidFill>
                  <a:srgbClr val="1B365D"/>
                </a:solidFill>
                <a:latin typeface="Newsreader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7356" y="41148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5E5D59"/>
                </a:solidFill>
                <a:latin typeface="Inter"/>
              </a:rPr>
              <a:t>Active Courses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29116" y="3017520"/>
            <a:ext cx="2286000" cy="1828800"/>
          </a:xfrm>
          <a:prstGeom prst="roundRect">
            <a:avLst/>
          </a:prstGeom>
          <a:solidFill>
            <a:srgbClr val="FAF9F5"/>
          </a:solidFill>
          <a:ln w="6350">
            <a:solidFill>
              <a:srgbClr val="E8E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29116" y="338328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0" i="0">
                <a:solidFill>
                  <a:srgbClr val="1B365D"/>
                </a:solidFill>
                <a:latin typeface="Newsreader"/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29116" y="41148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5E5D59"/>
                </a:solidFill>
                <a:latin typeface="Inter"/>
              </a:rPr>
              <a:t>Containerized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7867F"/>
                </a:solidFill>
                <a:latin typeface="Inter"/>
              </a:rPr>
              <a:t>15 / 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400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87867F"/>
                </a:solidFill>
                <a:latin typeface="Inter"/>
              </a:rPr>
              <a:t>FLOOD FORECASTING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87867F"/>
                </a:solidFill>
                <a:latin typeface="JetBrains Mono"/>
              </a:rP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3200400"/>
            <a:ext cx="50800" cy="109728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017520"/>
            <a:ext cx="960120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0" b="0" i="0">
                <a:solidFill>
                  <a:srgbClr val="141413"/>
                </a:solidFill>
                <a:latin typeface="Newsreader"/>
              </a:rPr>
              <a:t>Project Impact &amp; Next Steps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2743200"/>
            <a:ext cx="50800" cy="137160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896112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4200"/>
              </a:lnSpc>
            </a:pPr>
            <a:r>
              <a:rPr sz="3200" b="0" i="0">
                <a:solidFill>
                  <a:srgbClr val="FAF9F5"/>
                </a:solidFill>
                <a:latin typeface="Newsreader"/>
              </a:rPr>
              <a:t>“Personalized learning requires systems that adapt faster than the student can learn.”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754880"/>
            <a:ext cx="8961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87867F"/>
                </a:solidFill>
                <a:latin typeface="Inter"/>
              </a:rPr>
              <a:t>—— Lernova Core Principle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7867F"/>
                </a:solidFill>
                <a:latin typeface="Inter"/>
              </a:rPr>
              <a:t>17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87867F"/>
                </a:solidFill>
                <a:latin typeface="Inter"/>
              </a:rPr>
              <a:t>FLOOD FORECASTING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01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0" i="0">
                <a:solidFill>
                  <a:srgbClr val="141413"/>
                </a:solidFill>
                <a:latin typeface="Newsreader"/>
              </a:rPr>
              <a:t>Thank You!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937760" y="4114800"/>
            <a:ext cx="2286000" cy="0"/>
          </a:xfrm>
          <a:prstGeom prst="line">
            <a:avLst/>
          </a:prstGeom>
          <a:ln w="19050">
            <a:solidFill>
              <a:srgbClr val="1B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14400" y="4389120"/>
            <a:ext cx="103601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5E5D59"/>
                </a:solidFill>
                <a:latin typeface="JetBrains Mono"/>
              </a:rPr>
              <a:t>Lernova Platform · Phase 1 Complete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